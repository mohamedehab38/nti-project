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79" r:id="rId9"/>
    <p:sldId id="262" r:id="rId10"/>
    <p:sldId id="280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1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535" autoAdjust="0"/>
  </p:normalViewPr>
  <p:slideViewPr>
    <p:cSldViewPr snapToGrid="0" snapToObjects="1">
      <p:cViewPr varScale="1">
        <p:scale>
          <a:sx n="78" d="100"/>
          <a:sy n="78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1" Type="http://schemas.openxmlformats.org/officeDocument/2006/relationships/slide" Target="slides/slide2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67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51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F5A3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Delivery Company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data-driven look at how orders move from restaurant to doorstep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FF5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Members:                                                                        Project Supervisor: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Image 0" descr="/home/claude/food_delivery_ppt/icon_motor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02920"/>
            <a:ext cx="822960" cy="8229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90C499-2A8B-5C8F-B6F1-6EE62B43AA58}"/>
              </a:ext>
            </a:extLst>
          </p:cNvPr>
          <p:cNvSpPr txBox="1"/>
          <p:nvPr/>
        </p:nvSpPr>
        <p:spPr>
          <a:xfrm>
            <a:off x="822960" y="5132903"/>
            <a:ext cx="243528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Alaa Mohamed Fekry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Malak Emad Kamal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Amira Mohamed Ismail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Mohamed Ehab Mahmoud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Maryam Ramadan Ahmed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9BEA0-3D5A-E4AC-0D97-41063AC7D855}"/>
              </a:ext>
            </a:extLst>
          </p:cNvPr>
          <p:cNvSpPr txBox="1"/>
          <p:nvPr/>
        </p:nvSpPr>
        <p:spPr>
          <a:xfrm>
            <a:off x="4907903" y="5166359"/>
            <a:ext cx="143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Esraa </a:t>
            </a:r>
            <a:r>
              <a:rPr lang="en-US" sz="1400" dirty="0" err="1">
                <a:solidFill>
                  <a:schemeClr val="bg1"/>
                </a:solidFill>
              </a:rPr>
              <a:t>Eleraky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09760" y="-146304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is a courier service in which a restaurant, store, or independent food-delivery company delivers food to a customer. Orders are typically placed through a restaurant or grocer's website or mobile app, or through a food ordering platform.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items can include entrées, sides, drinks, desserts, or grocery items, typically packaged in boxes or bags. Couriers usually drive a car, though in denser cities — where restaurants and homes sit closer together — bikes or motorized scooters are common.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197864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36408" y="15361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food_delivery_ppt/icon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550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0" y="1417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0" y="1801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or website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26060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36408" y="29077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food_delivery_ppt/icon_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266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0" y="2788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59536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or store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39776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836408" y="42793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ood_delivery_ppt/icon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43982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160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95360" y="4544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or bags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635240" y="53492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36408" y="56509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food_delivery_ppt/icon_motor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576986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0" y="5532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595360" y="5916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bike, or scooter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using python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raw delivery dataset in Python (pandas) for analysis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Title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&amp; Exploring the Dataset</a:t>
            </a:r>
            <a:endParaRPr lang="en-US" sz="2600" dirty="0"/>
          </a:p>
        </p:txBody>
      </p:sp>
      <p:pic>
        <p:nvPicPr>
          <p:cNvPr id="6" name="Image 1" descr="/home/claude/food_delivery_ppt/cleaning/crop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28" y="1050000"/>
            <a:ext cx="2380001" cy="2476651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E48198-E13B-841D-BB1D-C466FE896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271" y="2215777"/>
            <a:ext cx="2064721" cy="1334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12D89-6964-4485-BD53-33E5E273D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3271" y="1050000"/>
            <a:ext cx="2064721" cy="1115744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has 45,593 rows and 20 columns covering rider, order, and delivery details, with a mix of text, float, and integer types.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dataset.info() and .describe() early to confirm column types and spot issues before diving into cleaning.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text columns contained hidden extra whitespace that could break grouping and matching later.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 from every string column, then re-check for duplicate rows to make sure cleanup didn't hide any.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Ages</a:t>
            </a:r>
            <a:endParaRPr lang="en-US" sz="2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C1DFAC-E88E-46B9-621B-997B212E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920" y="1050000"/>
            <a:ext cx="2182552" cy="10781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B1F5AB-F972-D116-2235-74934E37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920" y="2183516"/>
            <a:ext cx="2182552" cy="13664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094E8C-30C4-14B0-FEFE-D21A71AC2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360" y="1050000"/>
            <a:ext cx="2538720" cy="11849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2AC0C0-8A67-B66E-DD41-DBA4F8E95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360" y="2253504"/>
            <a:ext cx="2528249" cy="1296496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Delivery_person_Age stored its missing values as the text “NaN”, which hides them from a normal isnull() check.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text “NaN” with real np.nan first, so pandas can properly detect and count the 1,854 missing ages.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ranged from teens to 50s, with those 1,854 gaps confirmed once the values were read correctly.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missing ages with the column mean (~30) and convert the column to int64 for clean numeric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Title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Ratings</a:t>
            </a: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0F6F61-97F5-FB3B-067D-F8B6B599F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345" y="1050856"/>
            <a:ext cx="1957136" cy="1154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A7147A-EC3B-E1BB-8A66-F848A125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225" y="2290727"/>
            <a:ext cx="1935256" cy="1227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C8F321-B798-BFE4-BB80-9527ACEAB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004" y="1050856"/>
            <a:ext cx="1722713" cy="11549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C03DF0-782F-27D4-4CD0-529CD0DD7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1348" y="2285578"/>
            <a:ext cx="1731906" cy="1264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7FA493-14AC-6AF2-3A22-97E574A13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5241" y="1050000"/>
            <a:ext cx="1816414" cy="11143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6CE401-8CCE-AC19-61A9-B3C42F8DC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5241" y="2701651"/>
            <a:ext cx="1816414" cy="303133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Delivery_person_Ratings stored missing values as the text “NaN”, totaling 1,598 true nulls once converted properly.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text “NaN” with real nulls, then fill the gaps with the column mean (~4.63) instead of dropping those rows.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recheck with isnull().sum() after filling confirmed zero missing ratings remain.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the cleaned column to float64 to keep rating calculations consistent in later analysis.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6021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Coordinates &amp; Delivery Duration</a:t>
            </a:r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2A6B73-60D7-1A62-B143-F4C644521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426" y="1050000"/>
            <a:ext cx="2769647" cy="25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E47490-BB27-C392-9F9B-E644195DC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770" y="1050000"/>
            <a:ext cx="3001804" cy="2499999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of restaurant coordinates were stored as negative values (430 distinct rows), which would place restaurants in the wrong hemisphere on a map.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abs() to correct the sign instead of dropping those rows, since the magnitude of the coordinate is still usable.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fix, 3,640 restaurant coordinates were still under 1 — too close to (0,0) to be real store locations.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those specific latitude/longitude values as missing (NaN) so they don't distort distance calculations later.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Title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Weather, Traffic &amp; Dates</a:t>
            </a:r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0E44FA-87C9-3A4A-8E9B-996E0AF0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509" y="1050000"/>
            <a:ext cx="2344445" cy="25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64BAE1-1958-1AD4-0DA5-86D71AFDF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482" y="1050000"/>
            <a:ext cx="2677009" cy="11616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B26570-7EDC-F19E-30D0-FB505C7DE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482" y="2245288"/>
            <a:ext cx="2677009" cy="1304712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Weatherconditions and Road_traffic_density both stored missing values as the text “conditionsNaN” / “NaN” rather than a real null.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those placeholder strings with an explicit “unknown” category so they read clearly and don't break groupby operations.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was stored as plain text, which blocks any date-based filtering or trend analysis.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it with pd.to_datetime() so order timing can be grouped and compared accurately later.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4883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Title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City, Festival &amp; Delivery Time</a:t>
            </a:r>
            <a:endParaRPr lang="en-US" sz="2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233412-EBBC-F1B4-5550-5855B06C9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22" y="1050000"/>
            <a:ext cx="1757475" cy="11253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08C6B1-E16D-A43B-6383-55B15F7A6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621" y="2206897"/>
            <a:ext cx="1757475" cy="13431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93A8C2-DA15-1B80-DE3C-249856062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622" y="2206897"/>
            <a:ext cx="1700879" cy="13431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508D4E-9F8A-D9CC-1F07-FC410D8F0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1622" y="1050000"/>
            <a:ext cx="1700879" cy="11253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75A62E8-9701-AE0E-9DEE-CCCE1CF75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147" y="1050000"/>
            <a:ext cx="1494232" cy="2500000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multiple_deliveries had 993 missing entries, and City / Festival stored gaps as the text “NaN” instead of a real null.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missing multiple_deliveries with 1 (the most common value), and relabel City/Festival's “NaN” entries as “unknown” before converting types.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Time_taken(min) — the key delivery-time metric — was stored as text like “(min) 24” instead of a number.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“(min)” text and convert the column to int64 so it can be used directly in time calculations.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Title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Clean Dataset &amp; Export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1A2F6-11B1-78DF-2FCC-3E3FB4CE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848" y="1050001"/>
            <a:ext cx="2902425" cy="2499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0C51A-79A2-DD9C-300E-BC9872F6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145" y="1050000"/>
            <a:ext cx="2537007" cy="2499999"/>
          </a:xfrm>
          <a:prstGeom prst="rect">
            <a:avLst/>
          </a:prstGeom>
        </p:spPr>
      </p:pic>
      <p:sp>
        <p:nvSpPr>
          <p:cNvPr id="200" name="Shape"/>
          <p:cNvSpPr/>
          <p:nvPr/>
        </p:nvSpPr>
        <p:spPr>
          <a:xfrm>
            <a:off x="640080" y="39780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"/>
          <p:cNvSpPr/>
          <p:nvPr/>
        </p:nvSpPr>
        <p:spPr>
          <a:xfrm>
            <a:off x="896112" y="38500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dataset.info() and isnull().sum() checks confirm all columns are fully populated, aside from the 3,640 coordinate values intentionally set to null.</a:t>
            </a:r>
            <a:endParaRPr lang="en-US" sz="1250" dirty="0"/>
          </a:p>
        </p:txBody>
      </p:sp>
      <p:sp>
        <p:nvSpPr>
          <p:cNvPr id="202" name="Shape"/>
          <p:cNvSpPr/>
          <p:nvPr/>
        </p:nvSpPr>
        <p:spPr>
          <a:xfrm>
            <a:off x="6263640" y="39780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Text"/>
          <p:cNvSpPr/>
          <p:nvPr/>
        </p:nvSpPr>
        <p:spPr>
          <a:xfrm>
            <a:off x="6519672" y="3850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re-run these checks right before export to confirm nothing was missed earlier in the pipeline.</a:t>
            </a:r>
            <a:endParaRPr lang="en-US" sz="1250" dirty="0"/>
          </a:p>
        </p:txBody>
      </p:sp>
      <p:sp>
        <p:nvSpPr>
          <p:cNvPr id="204" name="Shape"/>
          <p:cNvSpPr/>
          <p:nvPr/>
        </p:nvSpPr>
        <p:spPr>
          <a:xfrm>
            <a:off x="640080" y="49381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"/>
          <p:cNvSpPr/>
          <p:nvPr/>
        </p:nvSpPr>
        <p:spPr>
          <a:xfrm>
            <a:off x="896112" y="48101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is now ready for deeper analysis in SQL, Power BI, and Excel.</a:t>
            </a:r>
            <a:endParaRPr lang="en-US" sz="1250" dirty="0"/>
          </a:p>
        </p:txBody>
      </p:sp>
      <p:sp>
        <p:nvSpPr>
          <p:cNvPr id="206" name="Shape"/>
          <p:cNvSpPr/>
          <p:nvPr/>
        </p:nvSpPr>
        <p:spPr>
          <a:xfrm>
            <a:off x="6263640" y="49381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Text"/>
          <p:cNvSpPr/>
          <p:nvPr/>
        </p:nvSpPr>
        <p:spPr>
          <a:xfrm>
            <a:off x="6519672" y="4810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it with dataset.to_csv('train_cleaned.csv', index=False) so every downstream tool works from one consistent source file.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using SQL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Querying the cleaned dataset to uncover delivery performance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 Time &amp; Multiple Deliveries</a:t>
            </a:r>
            <a:endParaRPr lang="en-US" sz="2400" dirty="0"/>
          </a:p>
        </p:txBody>
      </p:sp>
      <p:pic>
        <p:nvPicPr>
          <p:cNvPr id="5" name="Image 0" descr="/home/claude/food_delivery_ppt/sql/p1_prep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374" y="1188720"/>
            <a:ext cx="380020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preparation time is around 9 minutes, indicating that restaurant preparation contributes to the overall delivery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restaurant preparation speed with standard prep-time targets and optimize rider assignment timing to cut waiting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4315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53035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multiple deliveries show higher average delivery times, indicating that combining orders may increase delays.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54315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9672" y="53035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number of orders assigned to one rider, and only combine deliveries that fall along the same geographic route.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Hours, Festivals &amp; Order Type</a:t>
            </a:r>
            <a:endParaRPr lang="en-US" sz="2400" dirty="0"/>
          </a:p>
        </p:txBody>
      </p:sp>
      <p:pic>
        <p:nvPicPr>
          <p:cNvPr id="5" name="Image 0" descr="/home/claude/food_delivery_ppt/sql/p1_peak_festival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056" y="1188720"/>
            <a:ext cx="4234840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order volume occurs during evening peak hours (7 PM–11 PM), increasing delivery pressure and rider demand.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rider availability during peak hours and offer promotions in low-demand periods to balance order volume.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14197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501396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during festival periods have a higher average delivery time (45.52 min), showing festivals raise pressure and congestion.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514197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9672" y="501396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additional riders during festival periods and adjust ETAs to reflect high-congestion conditions.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8125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" y="568452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orders have the highest volume, closely followed by Meal and Drinks orders — demand is fairly similar across types.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58125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19672" y="568452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offers and menus around the most popular categories, and work with restaurants to keep them well stocked.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Brackets</a:t>
            </a:r>
            <a:endParaRPr lang="en-US" sz="2400" dirty="0"/>
          </a:p>
        </p:txBody>
      </p:sp>
      <p:pic>
        <p:nvPicPr>
          <p:cNvPr id="5" name="Image 0" descr="/home/claude/food_delivery_ppt/sql/p1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97" y="1188720"/>
            <a:ext cx="4359359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Long-distance orders have the highest average delivery time (28.69 min), showing distance negatively affects delivery efficiency.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delivery fees as distance grows, and prioritize nearby orders to improve overall delivery speed.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KPIs &amp; City Breakdown</a:t>
            </a:r>
            <a:endParaRPr lang="en-US" sz="2400" dirty="0"/>
          </a:p>
        </p:txBody>
      </p:sp>
      <p:pic>
        <p:nvPicPr>
          <p:cNvPr id="5" name="Image 0" descr="/home/claude/food_delivery_ppt/sql/p2_kpi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59" y="1188720"/>
            <a:ext cx="692843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Efficiency &amp; Geography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order density in Metropolitan areas: the vast majority of deliveries are concentrated there, requiring localized hubs to maintain fast fulfillment.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bottlenecks: average delivery times spike during severe traffic density and unfavorable weather, highlighting the need for dynamic route adjustments.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Groups &amp; Top Performers</a:t>
            </a:r>
            <a:endParaRPr lang="en-US" sz="2400" dirty="0"/>
          </a:p>
        </p:txBody>
      </p:sp>
      <p:pic>
        <p:nvPicPr>
          <p:cNvPr id="5" name="Image 0" descr="/home/claude/food_delivery_ppt/sql/p2_ag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864" y="1188720"/>
            <a:ext cx="415122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Performance &amp; Demographics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dynamics: riders aged 25–35 handle the highest volume of orders while maintaining consistent rating performance.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consistency: top-rated drivers consistently achieve lower average delivery times, showing a strong link between punctuality and customer satisfaction.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Condition &amp; Type</a:t>
            </a:r>
            <a:endParaRPr lang="en-US" sz="2400" dirty="0"/>
          </a:p>
        </p:txBody>
      </p:sp>
      <p:pic>
        <p:nvPicPr>
          <p:cNvPr id="5" name="Image 0" descr="/home/claude/food_delivery_ppt/sql/p2_veh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175" y="1188720"/>
            <a:ext cx="5822603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Vehicle Utilization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condition impact: vehicles in optimal condition (levels 2 &amp; 3) reduce average delivery times compared to poorly maintained vehicles.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performance: electric scooters and motorcycles are more efficient in high-density traffic zones than standard bicycles.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Fleet Allocation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deploying motorcycles and electric scooters in heavy-traffic urban zones to reduce fulfillment delays.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1967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Vehicle Maintenance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routine check-ups for company-provided fleets — better condition directly improves delivery speed.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Top Riders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performance-based bonuses for riders maintaining ratings above 4.8 to improve retention and service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1967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Weather Routing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estimated delivery times during adverse weather to manage customer expectations and prevent cancellations.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using Power BI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dashboard for exploring delivery performance at a glance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2787" y="1179576"/>
            <a:ext cx="8003377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landing page with navigation buttons to the Overview and Analysis pages.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6F60C7-02E1-0B5A-84D1-B413A912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786" y="1182458"/>
            <a:ext cx="8011561" cy="44959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0405" y="1179576"/>
            <a:ext cx="8008141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KPIs — total orders, delivery persons, average delivery time and rating — alongside order volume by restaurant location, city, and month.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2A2C3-67B8-9D3B-7178-945D38260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04" y="1183864"/>
            <a:ext cx="8018845" cy="45402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8209" y="1179576"/>
            <a:ext cx="7992534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look at average delivery time by vehicle type, order-type distribution, and top-rated delivery persons.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305101-BAB1-8670-5557-DF90C280E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209" y="1185500"/>
            <a:ext cx="8006140" cy="45386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using Excel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self-contained operations dashboard built with PivotTables and slicers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Operations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26748" y="1133856"/>
            <a:ext cx="6735457" cy="4727448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ood_delivery_ppt/excel/exce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612" y="1188720"/>
            <a:ext cx="6625729" cy="4617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971032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slicers for weather, traffic density, and city drive live views of total orders, average delivery time, average rating, and top-performing riders.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Contributions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Title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06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worked on which part of the project</a:t>
            </a:r>
            <a:endParaRPr lang="en-US" sz="1400" i="1" dirty="0"/>
          </a:p>
        </p:txBody>
      </p:sp>
      <p:sp>
        <p:nvSpPr>
          <p:cNvPr id="20" name="Card"/>
          <p:cNvSpPr/>
          <p:nvPr/>
        </p:nvSpPr>
        <p:spPr>
          <a:xfrm>
            <a:off x="64008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ircle"/>
          <p:cNvSpPr/>
          <p:nvPr/>
        </p:nvSpPr>
        <p:spPr>
          <a:xfrm>
            <a:off x="89611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Number"/>
          <p:cNvSpPr/>
          <p:nvPr/>
        </p:nvSpPr>
        <p:spPr>
          <a:xfrm>
            <a:off x="8961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itle"/>
          <p:cNvSpPr/>
          <p:nvPr/>
        </p:nvSpPr>
        <p:spPr>
          <a:xfrm>
            <a:off x="150876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(Python)</a:t>
            </a:r>
            <a:endParaRPr lang="en-US" sz="1500" dirty="0"/>
          </a:p>
        </p:txBody>
      </p:sp>
      <p:sp>
        <p:nvSpPr>
          <p:cNvPr id="24" name="Desc"/>
          <p:cNvSpPr/>
          <p:nvPr/>
        </p:nvSpPr>
        <p:spPr>
          <a:xfrm>
            <a:off x="96012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Mohamed Fekry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626364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ircle"/>
          <p:cNvSpPr/>
          <p:nvPr/>
        </p:nvSpPr>
        <p:spPr>
          <a:xfrm>
            <a:off x="651967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Number"/>
          <p:cNvSpPr/>
          <p:nvPr/>
        </p:nvSpPr>
        <p:spPr>
          <a:xfrm>
            <a:off x="651967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itle"/>
          <p:cNvSpPr/>
          <p:nvPr/>
        </p:nvSpPr>
        <p:spPr>
          <a:xfrm>
            <a:off x="713232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(SQL)</a:t>
            </a:r>
            <a:endParaRPr lang="en-US" sz="1500" dirty="0"/>
          </a:p>
        </p:txBody>
      </p:sp>
      <p:sp>
        <p:nvSpPr>
          <p:cNvPr id="34" name="Desc"/>
          <p:cNvSpPr/>
          <p:nvPr/>
        </p:nvSpPr>
        <p:spPr>
          <a:xfrm>
            <a:off x="658368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Emad Kamal &amp; Amira Mohamed Ismail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64008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ircle"/>
          <p:cNvSpPr/>
          <p:nvPr/>
        </p:nvSpPr>
        <p:spPr>
          <a:xfrm>
            <a:off x="89611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Number"/>
          <p:cNvSpPr/>
          <p:nvPr/>
        </p:nvSpPr>
        <p:spPr>
          <a:xfrm>
            <a:off x="89611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itle"/>
          <p:cNvSpPr/>
          <p:nvPr/>
        </p:nvSpPr>
        <p:spPr>
          <a:xfrm>
            <a:off x="150876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(Power BI)</a:t>
            </a:r>
            <a:endParaRPr lang="en-US" sz="1500" dirty="0"/>
          </a:p>
        </p:txBody>
      </p:sp>
      <p:sp>
        <p:nvSpPr>
          <p:cNvPr id="44" name="Desc"/>
          <p:cNvSpPr/>
          <p:nvPr/>
        </p:nvSpPr>
        <p:spPr>
          <a:xfrm>
            <a:off x="96012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Ehab Mahmoud</a:t>
            </a:r>
            <a:endParaRPr lang="en-US" sz="1400" dirty="0"/>
          </a:p>
        </p:txBody>
      </p:sp>
      <p:sp>
        <p:nvSpPr>
          <p:cNvPr id="50" name="Card"/>
          <p:cNvSpPr/>
          <p:nvPr/>
        </p:nvSpPr>
        <p:spPr>
          <a:xfrm>
            <a:off x="626364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Circle"/>
          <p:cNvSpPr/>
          <p:nvPr/>
        </p:nvSpPr>
        <p:spPr>
          <a:xfrm>
            <a:off x="651967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Number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53" name="Title"/>
          <p:cNvSpPr/>
          <p:nvPr/>
        </p:nvSpPr>
        <p:spPr>
          <a:xfrm>
            <a:off x="713232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(Excel)</a:t>
            </a:r>
            <a:endParaRPr lang="en-US" sz="1500" dirty="0"/>
          </a:p>
        </p:txBody>
      </p:sp>
      <p:sp>
        <p:nvSpPr>
          <p:cNvPr id="54" name="Desc"/>
          <p:cNvSpPr/>
          <p:nvPr/>
        </p:nvSpPr>
        <p:spPr>
          <a:xfrm>
            <a:off x="658368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Ramadan Ahmed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888</Words>
  <Application>Microsoft Office PowerPoint</Application>
  <PresentationFormat>Widescreen</PresentationFormat>
  <Paragraphs>117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ايهاب محمود احمد محمود</cp:lastModifiedBy>
  <cp:revision>10</cp:revision>
  <dcterms:created xsi:type="dcterms:W3CDTF">2026-08-07T23:25:58Z</dcterms:created>
  <dcterms:modified xsi:type="dcterms:W3CDTF">2026-08-08T11:19:27Z</dcterms:modified>
</cp:coreProperties>
</file>