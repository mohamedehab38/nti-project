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2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9674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486400" cy="5486400"/>
          </a:xfrm>
          <a:prstGeom prst="ellipse">
            <a:avLst/>
          </a:prstGeom>
          <a:solidFill>
            <a:srgbClr val="FF5A3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4206240"/>
            <a:ext cx="2926080" cy="2926080"/>
          </a:xfrm>
          <a:prstGeom prst="ellipse">
            <a:avLst/>
          </a:prstGeom>
          <a:solidFill>
            <a:srgbClr val="FF5A36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Delivery Company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data-driven look at how orders move from restaurant to doorstep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25400">
            <a:solidFill>
              <a:srgbClr val="FF5A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Members:                                                                        Project Supervisor: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9" name="Image 0" descr="/home/claude/food_delivery_ppt/icon_motor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502920"/>
            <a:ext cx="822960" cy="8229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90C499-2A8B-5C8F-B6F1-6EE62B43AA58}"/>
              </a:ext>
            </a:extLst>
          </p:cNvPr>
          <p:cNvSpPr txBox="1"/>
          <p:nvPr/>
        </p:nvSpPr>
        <p:spPr>
          <a:xfrm>
            <a:off x="822960" y="5132903"/>
            <a:ext cx="243528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Alaa Mohamed Fekry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Malak Emad Kamal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Amira Mohamed Ismail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Mohamed Ehab Mahmoud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Maryam Ramadan Ahmed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19BEA0-3D5A-E4AC-0D97-41063AC7D855}"/>
              </a:ext>
            </a:extLst>
          </p:cNvPr>
          <p:cNvSpPr txBox="1"/>
          <p:nvPr/>
        </p:nvSpPr>
        <p:spPr>
          <a:xfrm>
            <a:off x="4907903" y="5166359"/>
            <a:ext cx="1436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Esraa </a:t>
            </a:r>
            <a:r>
              <a:rPr lang="en-US" sz="1400" dirty="0" err="1">
                <a:solidFill>
                  <a:schemeClr val="bg1"/>
                </a:solidFill>
              </a:rPr>
              <a:t>Eleraky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509760" y="-146304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6583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is a courier service in which a restaurant, store, or independent food-delivery company delivers food to a customer. Orders are typically placed through a restaurant or grocer's website or mobile app, or through a food ordering platform.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6583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items can include entrées, sides, drinks, desserts, or grocery items, typically packaged in boxes or bags. Couriers usually drive a car, though in denser cities — where restaurants and homes sit closer together — bikes or motorized scooters are common.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635240" y="1197864"/>
            <a:ext cx="3794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36408" y="1536192"/>
            <a:ext cx="566928" cy="566928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food_delivery_ppt/icon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65506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95360" y="14173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95360" y="18013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or website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2606040"/>
            <a:ext cx="3794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836408" y="2907792"/>
            <a:ext cx="566928" cy="566928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food_delivery_ppt/icon_st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302666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95360" y="27889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595360" y="31729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or store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635240" y="3977640"/>
            <a:ext cx="3794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836408" y="4279392"/>
            <a:ext cx="566928" cy="566928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food_delivery_ppt/icon_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439826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95360" y="41605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595360" y="45445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or bags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635240" y="5349240"/>
            <a:ext cx="37947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7836408" y="5650992"/>
            <a:ext cx="566928" cy="566928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/home/claude/food_delivery_ppt/icon_motorcy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5769864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595360" y="55321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595360" y="59161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Car, bike, or scooter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FF5A3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using python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Preparing the raw delivery dataset in Python (pandas) for analysis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Loading &amp; First Look</a:t>
            </a:r>
            <a:endParaRPr lang="en-US" sz="2600" dirty="0"/>
          </a:p>
        </p:txBody>
      </p:sp>
      <p:pic>
        <p:nvPicPr>
          <p:cNvPr id="4" name="Image 0" descr="/home/claude/food_delivery_ppt/cleaning/crop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749" y="1143000"/>
            <a:ext cx="3948457" cy="452628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0080" y="5833872"/>
            <a:ext cx="52257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raw delivery dataset and previewed it with head(), tail(), and sample().</a:t>
            </a:r>
            <a:endParaRPr lang="en-US" sz="1300" dirty="0"/>
          </a:p>
        </p:txBody>
      </p:sp>
      <p:pic>
        <p:nvPicPr>
          <p:cNvPr id="6" name="Image 1" descr="/home/claude/food_delivery_ppt/cleaning/crop-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152" y="1143000"/>
            <a:ext cx="4349645" cy="452628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6323076" y="5833872"/>
            <a:ext cx="52257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summary statistics, confirmed no duplicates, and stripped stray whitespace from text columns.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Fixing Ages &amp; Ratings</a:t>
            </a:r>
            <a:endParaRPr lang="en-US" sz="2600" dirty="0"/>
          </a:p>
        </p:txBody>
      </p:sp>
      <p:pic>
        <p:nvPicPr>
          <p:cNvPr id="4" name="Image 0" descr="/home/claude/food_delivery_ppt/cleaning/crop-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343" y="1143000"/>
            <a:ext cx="4005269" cy="452628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0080" y="5833872"/>
            <a:ext cx="52257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1,854 missing delivery-person ages, filled them with 28, and converted the column to integers.</a:t>
            </a:r>
            <a:endParaRPr lang="en-US" sz="1300" dirty="0"/>
          </a:p>
        </p:txBody>
      </p:sp>
      <p:pic>
        <p:nvPicPr>
          <p:cNvPr id="6" name="Image 1" descr="/home/claude/food_delivery_ppt/cleaning/crop-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139" y="1143000"/>
            <a:ext cx="4217670" cy="452628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6323076" y="5833872"/>
            <a:ext cx="52257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messy rating values and converted them to numbers, then spotted invalid restaurant coordinates.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Fixing Coordinates &amp; Dates</a:t>
            </a:r>
            <a:endParaRPr lang="en-US" sz="2600" dirty="0"/>
          </a:p>
        </p:txBody>
      </p:sp>
      <p:pic>
        <p:nvPicPr>
          <p:cNvPr id="4" name="Image 0" descr="/home/claude/food_delivery_ppt/cleaning/crop-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879" y="1143000"/>
            <a:ext cx="3866198" cy="452628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0080" y="5833872"/>
            <a:ext cx="52257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Nulled out the invalid restaurant coordinates and converted Order_Date into a proper datetime column.</a:t>
            </a:r>
            <a:endParaRPr lang="en-US" sz="1300" dirty="0"/>
          </a:p>
        </p:txBody>
      </p:sp>
      <p:pic>
        <p:nvPicPr>
          <p:cNvPr id="6" name="Image 1" descr="/home/claude/food_delivery_ppt/cleaning/crop-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2039" y="1143000"/>
            <a:ext cx="4067870" cy="452628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6323076" y="5833872"/>
            <a:ext cx="52257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weather and traffic-density labels, replacing NaN placeholders with 'unknown'.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Filling Categorical Gaps</a:t>
            </a:r>
            <a:endParaRPr lang="en-US" sz="2600" dirty="0"/>
          </a:p>
        </p:txBody>
      </p:sp>
      <p:pic>
        <p:nvPicPr>
          <p:cNvPr id="4" name="Image 0" descr="/home/claude/food_delivery_ppt/cleaning/crop-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997" y="1143000"/>
            <a:ext cx="4217962" cy="452628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0080" y="5833872"/>
            <a:ext cx="52257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multiple-deliveries counts and relabeled missing Festival and City entries as 'unknown'.</a:t>
            </a:r>
            <a:endParaRPr lang="en-US" sz="1300" dirty="0"/>
          </a:p>
        </p:txBody>
      </p:sp>
      <p:pic>
        <p:nvPicPr>
          <p:cNvPr id="6" name="Image 1" descr="/home/claude/food_delivery_ppt/cleaning/crop-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265" y="1143000"/>
            <a:ext cx="4799418" cy="452628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6323076" y="5833872"/>
            <a:ext cx="52257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the '(min)' text from delivery times and converted it to a clean numeric column.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Check &amp; Export</a:t>
            </a:r>
            <a:endParaRPr lang="en-US" sz="2600" dirty="0"/>
          </a:p>
        </p:txBody>
      </p:sp>
      <p:pic>
        <p:nvPicPr>
          <p:cNvPr id="4" name="Image 0" descr="/home/claude/food_delivery_ppt/cleaning/crop-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476" y="1143000"/>
            <a:ext cx="6858000" cy="3620467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914400" y="4928059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the dataset was fully clean and exported the final result to train_cleaned.csv, ready for analysis.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FF5A3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Analysis using SQL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C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Querying the cleaned dataset to uncover delivery performance patterns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QUERY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 Time &amp; Multiple Deliveries</a:t>
            </a:r>
            <a:endParaRPr lang="en-US" sz="2400" dirty="0"/>
          </a:p>
        </p:txBody>
      </p:sp>
      <p:pic>
        <p:nvPicPr>
          <p:cNvPr id="5" name="Image 0" descr="/home/claude/food_delivery_ppt/sql/p1_prep_mul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374" y="1188720"/>
            <a:ext cx="3800204" cy="288036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40080" y="447141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6112" y="434340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preparation time is around 9 minutes, indicating that restaurant preparation contributes to the overall delivery time.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447141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19672" y="43434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restaurant preparation speed with standard prep-time targets and optimize rider assignment timing to cut waiting time.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543153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96112" y="530352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multiple deliveries show higher average delivery times, indicating that combining orders may increase delays.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543153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19672" y="53035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the number of orders assigned to one rider, and only combine deliveries that fall along the same geographic route.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QUERY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Peak Hours, Festivals &amp; Order Type</a:t>
            </a:r>
            <a:endParaRPr lang="en-US" sz="2400" dirty="0"/>
          </a:p>
        </p:txBody>
      </p:sp>
      <p:pic>
        <p:nvPicPr>
          <p:cNvPr id="5" name="Image 0" descr="/home/claude/food_delivery_ppt/sql/p1_peak_festival_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056" y="1188720"/>
            <a:ext cx="4234840" cy="288036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40080" y="447141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6112" y="4343400"/>
            <a:ext cx="534924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order volume occurs during evening peak hours (7 PM–11 PM), increasing delivery pressure and rider demand.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447141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19672" y="4343400"/>
            <a:ext cx="502920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rider availability during peak hours and offer promotions in low-demand periods to balance order volume.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514197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96112" y="5013960"/>
            <a:ext cx="534924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during festival periods have a higher average delivery time (45.52 min), showing festivals raise pressure and congestion.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514197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19672" y="5013960"/>
            <a:ext cx="502920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additional riders during festival periods and adjust ETAs to reflect high-congestion conditions.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581253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96112" y="5684520"/>
            <a:ext cx="534924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orders have the highest volume, closely followed by Meal and Drinks orders — demand is fairly similar across types.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581253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19672" y="5684520"/>
            <a:ext cx="502920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offers and menus around the most popular categories, and work with restaurants to keep them well stocked.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QUERY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Distance Brackets</a:t>
            </a:r>
            <a:endParaRPr lang="en-US" sz="2400" dirty="0"/>
          </a:p>
        </p:txBody>
      </p:sp>
      <p:pic>
        <p:nvPicPr>
          <p:cNvPr id="5" name="Image 0" descr="/home/claude/food_delivery_ppt/sql/p1_dis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797" y="1188720"/>
            <a:ext cx="4359359" cy="288036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640080" y="4471416"/>
            <a:ext cx="109728" cy="109728"/>
          </a:xfrm>
          <a:prstGeom prst="ellipse">
            <a:avLst/>
          </a:prstGeom>
          <a:solidFill>
            <a:srgbClr val="2E9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6112" y="4343400"/>
            <a:ext cx="5349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Long-distance orders have the highest average delivery time (28.69 min), showing distance negatively affects delivery efficiency.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4471416"/>
            <a:ext cx="109728" cy="109728"/>
          </a:xfrm>
          <a:prstGeom prst="ellipse">
            <a:avLst/>
          </a:prstGeom>
          <a:solidFill>
            <a:srgbClr val="3D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19672" y="43434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D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delivery fees as distance grows, and prioritize nearby orders to improve overall delivery speed.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COMPANY-WIDE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KPIs &amp; City Breakdown</a:t>
            </a:r>
            <a:endParaRPr lang="en-US" sz="2400" dirty="0"/>
          </a:p>
        </p:txBody>
      </p:sp>
      <p:pic>
        <p:nvPicPr>
          <p:cNvPr id="5" name="Image 0" descr="/home/claude/food_delivery_ppt/sql/p2_kpi_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259" y="1188720"/>
            <a:ext cx="6928434" cy="288036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280160" y="4325112"/>
            <a:ext cx="9628632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25400" dir="5400000" algn="bl" rotWithShape="0">
              <a:srgbClr val="1E1B29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600200" y="4434840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Efficiency &amp; Geography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4800600"/>
            <a:ext cx="90525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order density in Metropolitan areas: the vast majority of deliveries are concentrated there, requiring localized hubs to maintain fast fulfillment.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bottlenecks: average delivery times spike during severe traffic density and unfavorable weather, highlighting the need for dynamic route adjustments.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COMPANY-WIDE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Groups &amp; Top Performers</a:t>
            </a:r>
            <a:endParaRPr lang="en-US" sz="2400" dirty="0"/>
          </a:p>
        </p:txBody>
      </p:sp>
      <p:pic>
        <p:nvPicPr>
          <p:cNvPr id="5" name="Image 0" descr="/home/claude/food_delivery_ppt/sql/p2_age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864" y="1188720"/>
            <a:ext cx="4151224" cy="288036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280160" y="4325112"/>
            <a:ext cx="9628632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25400" dir="5400000" algn="bl" rotWithShape="0">
              <a:srgbClr val="1E1B29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600200" y="4434840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Performance &amp; Demographics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4800600"/>
            <a:ext cx="90525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dynamics: riders aged 25–35 handle the highest volume of orders while maintaining consistent rating performance.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consistency: top-rated drivers consistently achieve lower average delivery times, showing a strong link between punctuality and customer satisfaction.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COMPANY-WIDE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 Condition &amp; Type</a:t>
            </a:r>
            <a:endParaRPr lang="en-US" sz="2400" dirty="0"/>
          </a:p>
        </p:txBody>
      </p:sp>
      <p:pic>
        <p:nvPicPr>
          <p:cNvPr id="5" name="Image 0" descr="/home/claude/food_delivery_ppt/sql/p2_vehi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175" y="1188720"/>
            <a:ext cx="5822603" cy="2880360"/>
          </a:xfrm>
          <a:prstGeom prst="rect">
            <a:avLst/>
          </a:prstGeom>
          <a:effectLst>
            <a:outerShdw blurRad="127000" dist="38100" dir="5400000" algn="bl" rotWithShape="0">
              <a:srgbClr val="1E1B29">
                <a:alpha val="1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1280160" y="4325112"/>
            <a:ext cx="9628632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25400" dir="5400000" algn="bl" rotWithShape="0">
              <a:srgbClr val="1E1B29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600200" y="4434840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&amp; Vehicle Utilization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4800600"/>
            <a:ext cx="90525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condition impact: vehicles in optimal condition (levels 2 &amp; 3) reduce average delivery times compared to poorly maintained vehicles.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 performance: electric scooters and motorcycles are more efficient in high-density traffic zones than standard bicycles.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COMPANY-WIDE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1764792"/>
            <a:ext cx="457200" cy="457200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78308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Fleet Allocation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3774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deploying motorcycles and electric scooters in heavy-traffic urban zones to reduce fulfillment delays.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19672" y="1764792"/>
            <a:ext cx="457200" cy="457200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1967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178308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Vehicle Maintenance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23774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mandatory routine check-ups for company-provided fleets — better condition directly improves delivery speed.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6112" y="4233672"/>
            <a:ext cx="457200" cy="457200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611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42519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Top Riders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484632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performance-based bonuses for riders maintaining ratings above 4.8 to improve retention and service quality.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3977640"/>
            <a:ext cx="5349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DEAF2"/>
            </a:solidFill>
            <a:prstDash val="solid"/>
          </a:ln>
          <a:effectLst>
            <a:outerShdw blurRad="101600" dist="38100" dir="5400000" algn="bl" rotWithShape="0">
              <a:srgbClr val="1E1B29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19672" y="4233672"/>
            <a:ext cx="457200" cy="457200"/>
          </a:xfrm>
          <a:prstGeom prst="ellipse">
            <a:avLst/>
          </a:prstGeom>
          <a:solidFill>
            <a:srgbClr val="FF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967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2320" y="42519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Weather Routing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0" y="484632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estimated delivery times during adverse weather to manage customer expectations and prevent cancellations.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FF5A3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using Power BI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interactive dashboard for exploring delivery performance at a glance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92787" y="1179576"/>
            <a:ext cx="8003377" cy="4544568"/>
          </a:xfrm>
          <a:prstGeom prst="roundRect">
            <a:avLst>
              <a:gd name="adj" fmla="val 1006"/>
            </a:avLst>
          </a:prstGeom>
          <a:solidFill>
            <a:srgbClr val="FFFFFF"/>
          </a:solidFill>
          <a:ln w="12700">
            <a:solidFill>
              <a:srgbClr val="E4E1EA"/>
            </a:solidFill>
            <a:prstDash val="solid"/>
          </a:ln>
          <a:effectLst>
            <a:outerShdw blurRad="152400" dist="50800" dir="5400000" algn="bl" rotWithShape="0">
              <a:srgbClr val="1E1B2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food_delivery_ppt/dashboard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651" y="1234440"/>
            <a:ext cx="7893649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870448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landing page with navigation buttons to the Overview and Analysis pages.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90405" y="1179576"/>
            <a:ext cx="8008141" cy="4544568"/>
          </a:xfrm>
          <a:prstGeom prst="roundRect">
            <a:avLst>
              <a:gd name="adj" fmla="val 1006"/>
            </a:avLst>
          </a:prstGeom>
          <a:solidFill>
            <a:srgbClr val="FFFFFF"/>
          </a:solidFill>
          <a:ln w="12700">
            <a:solidFill>
              <a:srgbClr val="E4E1EA"/>
            </a:solidFill>
            <a:prstDash val="solid"/>
          </a:ln>
          <a:effectLst>
            <a:outerShdw blurRad="152400" dist="50800" dir="5400000" algn="bl" rotWithShape="0">
              <a:srgbClr val="1E1B2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food_delivery_ppt/dashboard/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269" y="1234440"/>
            <a:ext cx="7898413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870448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KPIs — total orders, delivery persons, average delivery time and rating — alongside order volume by restaurant location, city, and month.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98209" y="1179576"/>
            <a:ext cx="7992534" cy="4544568"/>
          </a:xfrm>
          <a:prstGeom prst="roundRect">
            <a:avLst>
              <a:gd name="adj" fmla="val 1006"/>
            </a:avLst>
          </a:prstGeom>
          <a:solidFill>
            <a:srgbClr val="FFFFFF"/>
          </a:solidFill>
          <a:ln w="12700">
            <a:solidFill>
              <a:srgbClr val="E4E1EA"/>
            </a:solidFill>
            <a:prstDash val="solid"/>
          </a:ln>
          <a:effectLst>
            <a:outerShdw blurRad="152400" dist="50800" dir="5400000" algn="bl" rotWithShape="0">
              <a:srgbClr val="1E1B2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food_delivery_ppt/dashboard/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073" y="1234440"/>
            <a:ext cx="7882806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870448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 look at average delivery time by vehicle type, order-type distribution, and top-rated delivery persons.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486400" cy="5486400"/>
          </a:xfrm>
          <a:prstGeom prst="ellipse">
            <a:avLst/>
          </a:prstGeom>
          <a:solidFill>
            <a:srgbClr val="FF5A3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5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using Excel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self-contained operations dashboard built with PivotTables and slicers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645920"/>
            <a:ext cx="3657600" cy="3657600"/>
          </a:xfrm>
          <a:prstGeom prst="ellipse">
            <a:avLst/>
          </a:prstGeom>
          <a:solidFill>
            <a:srgbClr val="FF5A36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DASHBOARD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Operations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26748" y="1133856"/>
            <a:ext cx="6735457" cy="4727448"/>
          </a:xfrm>
          <a:prstGeom prst="roundRect">
            <a:avLst>
              <a:gd name="adj" fmla="val 967"/>
            </a:avLst>
          </a:prstGeom>
          <a:solidFill>
            <a:srgbClr val="FFFFFF"/>
          </a:solidFill>
          <a:ln w="12700">
            <a:solidFill>
              <a:srgbClr val="E4E1EA"/>
            </a:solidFill>
            <a:prstDash val="solid"/>
          </a:ln>
          <a:effectLst>
            <a:outerShdw blurRad="152400" dist="50800" dir="5400000" algn="bl" rotWithShape="0">
              <a:srgbClr val="1E1B2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food_delivery_ppt/excel/excel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612" y="1188720"/>
            <a:ext cx="6625729" cy="4617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971032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53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slicers for weather, traffic density, and city drive live views of total orders, average delivery time, average rating, and top-performing riders.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1052</Words>
  <Application>Microsoft Office PowerPoint</Application>
  <PresentationFormat>Widescreen</PresentationFormat>
  <Paragraphs>128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محمد ايهاب محمود احمد محمود</cp:lastModifiedBy>
  <cp:revision>3</cp:revision>
  <dcterms:created xsi:type="dcterms:W3CDTF">2026-08-07T23:25:58Z</dcterms:created>
  <dcterms:modified xsi:type="dcterms:W3CDTF">2026-08-07T23:51:30Z</dcterms:modified>
</cp:coreProperties>
</file>